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0000"/>
          </a:xfrm>
          <a:prstGeom prst="rect">
            <a:avLst/>
          </a:prstGeom>
          <a:solidFill>
            <a:srgbClr val="0C2340"/>
          </a:solidFill>
          <a:ln>
            <a:solidFill>
              <a:srgbClr val="0C2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Shipping Every Two Weeks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772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D2D2D"/>
                </a:solidFill>
              </a:defRPr>
            </a:pPr>
            <a:r>
              <a:t>A transformation in how we deliver software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64008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Vision: Every sprint produces production-ready customer value.</a:t>
            </a:r>
          </a:p>
          <a:p>
            <a:pPr>
              <a:defRPr sz="2000"/>
            </a:pPr>
            <a:r>
              <a:t>Move from component ownership to outcome ownership.</a:t>
            </a:r>
          </a:p>
          <a:p>
            <a:pPr>
              <a:defRPr sz="2000"/>
            </a:pPr>
            <a:r>
              <a:t>Reduce waiting, handoffs and integration risk.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1188720"/>
            <a:ext cx="4206240" cy="4754880"/>
          </a:xfrm>
          <a:prstGeom prst="roundRect">
            <a:avLst/>
          </a:prstGeom>
          <a:solidFill>
            <a:srgbClr val="1E8C5A"/>
          </a:solidFill>
          <a:ln>
            <a:solidFill>
              <a:srgbClr val="1E8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Outcome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Customer value every sprint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Predictable releases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Higher quality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0000"/>
          </a:xfrm>
          <a:prstGeom prst="rect">
            <a:avLst/>
          </a:prstGeom>
          <a:solidFill>
            <a:srgbClr val="0C2340"/>
          </a:solidFill>
          <a:ln>
            <a:solidFill>
              <a:srgbClr val="0C2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Why Smart Teams Still Miss Releases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772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D2D2D"/>
                </a:solidFill>
              </a:defRPr>
            </a:pPr>
            <a:r>
              <a:t>The hidden cost of horizontal delivery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64008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Client finishes but waits for APIs.</a:t>
            </a:r>
          </a:p>
          <a:p>
            <a:pPr>
              <a:defRPr sz="2000"/>
            </a:pPr>
            <a:r>
              <a:t>Gateway waits for backend.</a:t>
            </a:r>
          </a:p>
          <a:p>
            <a:pPr>
              <a:defRPr sz="2000"/>
            </a:pPr>
            <a:r>
              <a:t>QA begins after coding.</a:t>
            </a:r>
          </a:p>
          <a:p>
            <a:pPr>
              <a:defRPr sz="2000"/>
            </a:pPr>
            <a:r>
              <a:t>Integration becomes the project.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1188720"/>
            <a:ext cx="4206240" cy="4754880"/>
          </a:xfrm>
          <a:prstGeom prst="roundRect">
            <a:avLst/>
          </a:prstGeom>
          <a:solidFill>
            <a:srgbClr val="C43535"/>
          </a:solidFill>
          <a:ln>
            <a:solidFill>
              <a:srgbClr val="C435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Anti-pattern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Long-lived branches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Late testing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Big-bang releases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0000"/>
          </a:xfrm>
          <a:prstGeom prst="rect">
            <a:avLst/>
          </a:prstGeom>
          <a:solidFill>
            <a:srgbClr val="0C2340"/>
          </a:solidFill>
          <a:ln>
            <a:solidFill>
              <a:srgbClr val="0C2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Horizontal vs Vertical Slicing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772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D2D2D"/>
                </a:solidFill>
              </a:defRPr>
            </a:pPr>
            <a:r>
              <a:t>The biggest mindset shift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64008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Horizontal = organize work by architecture.</a:t>
            </a:r>
          </a:p>
          <a:p>
            <a:pPr>
              <a:defRPr sz="2000"/>
            </a:pPr>
            <a:r>
              <a:t>Vertical = organize work by customer capability.</a:t>
            </a:r>
          </a:p>
          <a:p>
            <a:pPr>
              <a:defRPr sz="2000"/>
            </a:pPr>
            <a:r>
              <a:t>Every story crosses all layers.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1188720"/>
            <a:ext cx="4206240" cy="4754880"/>
          </a:xfrm>
          <a:prstGeom prst="roundRect">
            <a:avLst/>
          </a:prstGeom>
          <a:solidFill>
            <a:srgbClr val="205EB0"/>
          </a:solidFill>
          <a:ln>
            <a:solidFill>
              <a:srgbClr val="205E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Horizontal vs Vertical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Horizontal: Client→Gateway→Backend→QA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Vertical: Story includes all layers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Deploy anytime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0000"/>
          </a:xfrm>
          <a:prstGeom prst="rect">
            <a:avLst/>
          </a:prstGeom>
          <a:solidFill>
            <a:srgbClr val="0C2340"/>
          </a:solidFill>
          <a:ln>
            <a:solidFill>
              <a:srgbClr val="0C2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The Question We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772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D2D2D"/>
                </a:solidFill>
              </a:defRPr>
            </a:pPr>
            <a:r>
              <a:t>Change the planning conversation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64008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❌ What can Android finish?</a:t>
            </a:r>
          </a:p>
          <a:p>
            <a:pPr>
              <a:defRPr sz="2000"/>
            </a:pPr>
            <a:r>
              <a:t>❌ What APIs can Gateway build?</a:t>
            </a:r>
          </a:p>
          <a:p>
            <a:pPr>
              <a:defRPr sz="2000"/>
            </a:pPr>
            <a:r>
              <a:t>✅ What can a customer do after two weeks?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1188720"/>
            <a:ext cx="4206240" cy="4754880"/>
          </a:xfrm>
          <a:prstGeom prst="roundRect">
            <a:avLst/>
          </a:prstGeom>
          <a:solidFill>
            <a:srgbClr val="E88827"/>
          </a:solidFill>
          <a:ln>
            <a:solidFill>
              <a:srgbClr val="E88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Capability Thinking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Login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Save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Pay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Track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Share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0000"/>
          </a:xfrm>
          <a:prstGeom prst="rect">
            <a:avLst/>
          </a:prstGeom>
          <a:solidFill>
            <a:srgbClr val="0C2340"/>
          </a:solidFill>
          <a:ln>
            <a:solidFill>
              <a:srgbClr val="0C2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Case Study: WhatsApp Blue Ticks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772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D2D2D"/>
                </a:solidFill>
              </a:defRPr>
            </a:pPr>
            <a:r>
              <a:t>Grow capability over multiple releases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64008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Sprint1: Basic read receipt</a:t>
            </a:r>
          </a:p>
          <a:p>
            <a:pPr>
              <a:defRPr sz="2000"/>
            </a:pPr>
            <a:r>
              <a:t>Sprint2: Offline sync</a:t>
            </a:r>
          </a:p>
          <a:p>
            <a:pPr>
              <a:defRPr sz="2000"/>
            </a:pPr>
            <a:r>
              <a:t>Sprint3: Groups</a:t>
            </a:r>
          </a:p>
          <a:p>
            <a:pPr>
              <a:defRPr sz="2000"/>
            </a:pPr>
            <a:r>
              <a:t>Sprint4: Privacy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1188720"/>
            <a:ext cx="4206240" cy="4754880"/>
          </a:xfrm>
          <a:prstGeom prst="roundRect">
            <a:avLst/>
          </a:prstGeom>
          <a:solidFill>
            <a:srgbClr val="1E8C5A"/>
          </a:solidFill>
          <a:ln>
            <a:solidFill>
              <a:srgbClr val="1E8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Value Evolution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Each sprint usable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Feedback early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Low risk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0000"/>
          </a:xfrm>
          <a:prstGeom prst="rect">
            <a:avLst/>
          </a:prstGeom>
          <a:solidFill>
            <a:srgbClr val="0C2340"/>
          </a:solidFill>
          <a:ln>
            <a:solidFill>
              <a:srgbClr val="0C2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Case Study: Amazon Wishlist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772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D2D2D"/>
                </a:solidFill>
              </a:defRPr>
            </a:pPr>
            <a:r>
              <a:t>One epic, many releases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64008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Add item</a:t>
            </a:r>
          </a:p>
          <a:p>
            <a:pPr>
              <a:defRPr sz="2000"/>
            </a:pPr>
            <a:r>
              <a:t>View wishlist</a:t>
            </a:r>
          </a:p>
          <a:p>
            <a:pPr>
              <a:defRPr sz="2000"/>
            </a:pPr>
            <a:r>
              <a:t>Remove item</a:t>
            </a:r>
          </a:p>
          <a:p>
            <a:pPr>
              <a:defRPr sz="2000"/>
            </a:pPr>
            <a:r>
              <a:t>Move to cart</a:t>
            </a:r>
          </a:p>
          <a:p>
            <a:pPr>
              <a:defRPr sz="2000"/>
            </a:pPr>
            <a:r>
              <a:t>Share wishlist later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1188720"/>
            <a:ext cx="4206240" cy="4754880"/>
          </a:xfrm>
          <a:prstGeom prst="roundRect">
            <a:avLst/>
          </a:prstGeom>
          <a:solidFill>
            <a:srgbClr val="205EB0"/>
          </a:solidFill>
          <a:ln>
            <a:solidFill>
              <a:srgbClr val="205E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Independent Slices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Every slice demoable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No dependency wall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0000"/>
          </a:xfrm>
          <a:prstGeom prst="rect">
            <a:avLst/>
          </a:prstGeom>
          <a:solidFill>
            <a:srgbClr val="0C2340"/>
          </a:solidFill>
          <a:ln>
            <a:solidFill>
              <a:srgbClr val="0C2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Feature Squad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772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D2D2D"/>
                </a:solidFill>
              </a:defRPr>
            </a:pPr>
            <a:r>
              <a:t>Temporary cross-functional ownership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64008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Client + Gateway + Backend + QA + PO</a:t>
            </a:r>
          </a:p>
          <a:p>
            <a:pPr>
              <a:defRPr sz="2000"/>
            </a:pPr>
            <a:r>
              <a:t>Swarm on one story.</a:t>
            </a:r>
          </a:p>
          <a:p>
            <a:pPr>
              <a:defRPr sz="2000"/>
            </a:pPr>
            <a:r>
              <a:t>Finish before starting another.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1188720"/>
            <a:ext cx="4206240" cy="4754880"/>
          </a:xfrm>
          <a:prstGeom prst="roundRect">
            <a:avLst/>
          </a:prstGeom>
          <a:solidFill>
            <a:srgbClr val="E88827"/>
          </a:solidFill>
          <a:ln>
            <a:solidFill>
              <a:srgbClr val="E88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Shared Ownership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One backlog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One goal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One demo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0000"/>
          </a:xfrm>
          <a:prstGeom prst="rect">
            <a:avLst/>
          </a:prstGeom>
          <a:solidFill>
            <a:srgbClr val="0C2340"/>
          </a:solidFill>
          <a:ln>
            <a:solidFill>
              <a:srgbClr val="0C2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Definition of Done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772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D2D2D"/>
                </a:solidFill>
              </a:defRPr>
            </a:pPr>
            <a:r>
              <a:t>Quality is built 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64008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Client complete</a:t>
            </a:r>
          </a:p>
          <a:p>
            <a:pPr>
              <a:defRPr sz="2000"/>
            </a:pPr>
            <a:r>
              <a:t>Gateway complete</a:t>
            </a:r>
          </a:p>
          <a:p>
            <a:pPr>
              <a:defRPr sz="2000"/>
            </a:pPr>
            <a:r>
              <a:t>Backend complete</a:t>
            </a:r>
          </a:p>
          <a:p>
            <a:pPr>
              <a:defRPr sz="2000"/>
            </a:pPr>
            <a:r>
              <a:t>Automation</a:t>
            </a:r>
          </a:p>
          <a:p>
            <a:pPr>
              <a:defRPr sz="2000"/>
            </a:pPr>
            <a:r>
              <a:t>QA</a:t>
            </a:r>
          </a:p>
          <a:p>
            <a:pPr>
              <a:defRPr sz="2000"/>
            </a:pPr>
            <a:r>
              <a:t>Monitoring</a:t>
            </a:r>
          </a:p>
          <a:p>
            <a:pPr>
              <a:defRPr sz="2000"/>
            </a:pPr>
            <a:r>
              <a:t>Feature flag</a:t>
            </a:r>
          </a:p>
          <a:p>
            <a:pPr>
              <a:defRPr sz="2000"/>
            </a:pPr>
            <a:r>
              <a:t>Deployable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1188720"/>
            <a:ext cx="4206240" cy="4754880"/>
          </a:xfrm>
          <a:prstGeom prst="roundRect">
            <a:avLst/>
          </a:prstGeom>
          <a:solidFill>
            <a:srgbClr val="1E8C5A"/>
          </a:solidFill>
          <a:ln>
            <a:solidFill>
              <a:srgbClr val="1E8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Done = Release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No partial stories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0000"/>
          </a:xfrm>
          <a:prstGeom prst="rect">
            <a:avLst/>
          </a:prstGeom>
          <a:solidFill>
            <a:srgbClr val="0C2340"/>
          </a:solidFill>
          <a:ln>
            <a:solidFill>
              <a:srgbClr val="0C2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Two-Week Sprint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772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D2D2D"/>
                </a:solidFill>
              </a:defRPr>
            </a:pPr>
            <a:r>
              <a:t>Suggested delivery rhythm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64008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Day1-2 Discovery</a:t>
            </a:r>
          </a:p>
          <a:p>
            <a:pPr>
              <a:defRPr sz="2000"/>
            </a:pPr>
            <a:r>
              <a:t>Day2-6 Parallel build</a:t>
            </a:r>
          </a:p>
          <a:p>
            <a:pPr>
              <a:defRPr sz="2000"/>
            </a:pPr>
            <a:r>
              <a:t>Day7-8 Integration</a:t>
            </a:r>
          </a:p>
          <a:p>
            <a:pPr>
              <a:defRPr sz="2000"/>
            </a:pPr>
            <a:r>
              <a:t>Day9 Validation</a:t>
            </a:r>
          </a:p>
          <a:p>
            <a:pPr>
              <a:defRPr sz="2000"/>
            </a:pPr>
            <a:r>
              <a:t>Day10 Release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1188720"/>
            <a:ext cx="4206240" cy="4754880"/>
          </a:xfrm>
          <a:prstGeom prst="roundRect">
            <a:avLst/>
          </a:prstGeom>
          <a:solidFill>
            <a:srgbClr val="205EB0"/>
          </a:solidFill>
          <a:ln>
            <a:solidFill>
              <a:srgbClr val="205E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Cadence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Design→Build→Integrate→Release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0000"/>
          </a:xfrm>
          <a:prstGeom prst="rect">
            <a:avLst/>
          </a:prstGeom>
          <a:solidFill>
            <a:srgbClr val="0C2340"/>
          </a:solidFill>
          <a:ln>
            <a:solidFill>
              <a:srgbClr val="0C2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Common Objections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772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D2D2D"/>
                </a:solidFill>
              </a:defRPr>
            </a:pPr>
            <a:r>
              <a:t>Address concerns proactively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64008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'Gateway has no work' → Pull next slice.</a:t>
            </a:r>
          </a:p>
          <a:p>
            <a:pPr>
              <a:defRPr sz="2000"/>
            </a:pPr>
            <a:r>
              <a:t>'QA comes later' → QA starts Day 1.</a:t>
            </a:r>
          </a:p>
          <a:p>
            <a:pPr>
              <a:defRPr sz="2000"/>
            </a:pPr>
            <a:r>
              <a:t>'Backend first' → Thin end-to-end path.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1188720"/>
            <a:ext cx="4206240" cy="4754880"/>
          </a:xfrm>
          <a:prstGeom prst="roundRect">
            <a:avLst/>
          </a:prstGeom>
          <a:solidFill>
            <a:srgbClr val="E88827"/>
          </a:solidFill>
          <a:ln>
            <a:solidFill>
              <a:srgbClr val="E88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Mindset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Optimize flow, not utilization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0000"/>
          </a:xfrm>
          <a:prstGeom prst="rect">
            <a:avLst/>
          </a:prstGeom>
          <a:solidFill>
            <a:srgbClr val="0C2340"/>
          </a:solidFill>
          <a:ln>
            <a:solidFill>
              <a:srgbClr val="0C2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Engineering Excellence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772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D2D2D"/>
                </a:solidFill>
              </a:defRPr>
            </a:pPr>
            <a:r>
              <a:t>Practices that make this possible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64008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Feature flags</a:t>
            </a:r>
          </a:p>
          <a:p>
            <a:pPr>
              <a:defRPr sz="2000"/>
            </a:pPr>
            <a:r>
              <a:t>Trunk-based development</a:t>
            </a:r>
          </a:p>
          <a:p>
            <a:pPr>
              <a:defRPr sz="2000"/>
            </a:pPr>
            <a:r>
              <a:t>CI/CD</a:t>
            </a:r>
          </a:p>
          <a:p>
            <a:pPr>
              <a:defRPr sz="2000"/>
            </a:pPr>
            <a:r>
              <a:t>Contract testing</a:t>
            </a:r>
          </a:p>
          <a:p>
            <a:pPr>
              <a:defRPr sz="2000"/>
            </a:pPr>
            <a:r>
              <a:t>Observability</a:t>
            </a:r>
          </a:p>
          <a:p>
            <a:pPr>
              <a:defRPr sz="2000"/>
            </a:pPr>
            <a:r>
              <a:t>Small PRs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1188720"/>
            <a:ext cx="4206240" cy="4754880"/>
          </a:xfrm>
          <a:prstGeom prst="roundRect">
            <a:avLst/>
          </a:prstGeom>
          <a:solidFill>
            <a:srgbClr val="1E8C5A"/>
          </a:solidFill>
          <a:ln>
            <a:solidFill>
              <a:srgbClr val="1E8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Elite Practices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Deploy confidently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0000"/>
          </a:xfrm>
          <a:prstGeom prst="rect">
            <a:avLst/>
          </a:prstGeom>
          <a:solidFill>
            <a:srgbClr val="0C2340"/>
          </a:solidFill>
          <a:ln>
            <a:solidFill>
              <a:srgbClr val="0C2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Measure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772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D2D2D"/>
                </a:solidFill>
              </a:defRPr>
            </a:pPr>
            <a:r>
              <a:t>Track engineering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64008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Deployment frequency</a:t>
            </a:r>
          </a:p>
          <a:p>
            <a:pPr>
              <a:defRPr sz="2000"/>
            </a:pPr>
            <a:r>
              <a:t>Lead time</a:t>
            </a:r>
          </a:p>
          <a:p>
            <a:pPr>
              <a:defRPr sz="2000"/>
            </a:pPr>
            <a:r>
              <a:t>Cycle time</a:t>
            </a:r>
          </a:p>
          <a:p>
            <a:pPr>
              <a:defRPr sz="2000"/>
            </a:pPr>
            <a:r>
              <a:t>Escaped defects</a:t>
            </a:r>
          </a:p>
          <a:p>
            <a:pPr>
              <a:defRPr sz="2000"/>
            </a:pPr>
            <a:r>
              <a:t>Customer adoption</a:t>
            </a:r>
          </a:p>
          <a:p>
            <a:pPr>
              <a:defRPr sz="2000"/>
            </a:pPr>
            <a:r>
              <a:t>Sprint predictability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1188720"/>
            <a:ext cx="4206240" cy="4754880"/>
          </a:xfrm>
          <a:prstGeom prst="roundRect">
            <a:avLst/>
          </a:prstGeom>
          <a:solidFill>
            <a:srgbClr val="205EB0"/>
          </a:solidFill>
          <a:ln>
            <a:solidFill>
              <a:srgbClr val="205E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DORA + Flow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Measure outcomes, not effort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0000"/>
          </a:xfrm>
          <a:prstGeom prst="rect">
            <a:avLst/>
          </a:prstGeom>
          <a:solidFill>
            <a:srgbClr val="0C2340"/>
          </a:solidFill>
          <a:ln>
            <a:solidFill>
              <a:srgbClr val="0C2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90-Day Adoption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772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D2D2D"/>
                </a:solidFill>
              </a:defRPr>
            </a:pPr>
            <a:r>
              <a:t>Introduce change incrementally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64008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Month1: Pilot one squad</a:t>
            </a:r>
          </a:p>
          <a:p>
            <a:pPr>
              <a:defRPr sz="2000"/>
            </a:pPr>
            <a:r>
              <a:t>Month2: Expand to 2-3 teams</a:t>
            </a:r>
          </a:p>
          <a:p>
            <a:pPr>
              <a:defRPr sz="2000"/>
            </a:pPr>
            <a:r>
              <a:t>Month3: Default planning model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1188720"/>
            <a:ext cx="4206240" cy="4754880"/>
          </a:xfrm>
          <a:prstGeom prst="roundRect">
            <a:avLst/>
          </a:prstGeom>
          <a:solidFill>
            <a:srgbClr val="E88827"/>
          </a:solidFill>
          <a:ln>
            <a:solidFill>
              <a:srgbClr val="E88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Transformation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Start small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Scale safely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0000"/>
          </a:xfrm>
          <a:prstGeom prst="rect">
            <a:avLst/>
          </a:prstGeom>
          <a:solidFill>
            <a:srgbClr val="0C2340"/>
          </a:solidFill>
          <a:ln>
            <a:solidFill>
              <a:srgbClr val="0C2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Call to 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772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D2D2D"/>
                </a:solidFill>
              </a:defRPr>
            </a:pPr>
            <a:r>
              <a:t>Build products—not components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64008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Every sprint should answer:</a:t>
            </a:r>
          </a:p>
          <a:p>
            <a:pPr>
              <a:defRPr sz="2000"/>
            </a:pPr>
            <a:r>
              <a:t>'What customer value can we release today?'</a:t>
            </a:r>
          </a:p>
          <a:p>
            <a:pPr>
              <a:defRPr sz="2000"/>
            </a:pPr>
            <a:r>
              <a:t>Ship. Learn. Improve. Repeat.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1188720"/>
            <a:ext cx="4206240" cy="4754880"/>
          </a:xfrm>
          <a:prstGeom prst="roundRect">
            <a:avLst/>
          </a:prstGeom>
          <a:solidFill>
            <a:srgbClr val="0C2340"/>
          </a:solidFill>
          <a:ln>
            <a:solidFill>
              <a:srgbClr val="0C2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North Star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Continuous customer value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